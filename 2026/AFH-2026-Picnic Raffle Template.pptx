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59" r:id="rId4"/>
    <p:sldId id="258" r:id="rId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7296"/>
    <a:srgbClr val="5FAD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14D3E-D2E5-B542-A03C-B41C34EFAA6E}" v="16" dt="2026-09-11T15:53:52.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58"/>
  </p:normalViewPr>
  <p:slideViewPr>
    <p:cSldViewPr snapToGrid="0">
      <p:cViewPr varScale="1">
        <p:scale>
          <a:sx n="82" d="100"/>
          <a:sy n="82" d="100"/>
        </p:scale>
        <p:origin x="17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C95F1B-B49A-4B04-BDCD-FC2E4A2EC140}"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2931443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95F1B-B49A-4B04-BDCD-FC2E4A2EC140}"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2908916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95F1B-B49A-4B04-BDCD-FC2E4A2EC140}"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361948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C95F1B-B49A-4B04-BDCD-FC2E4A2EC140}"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2848116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C95F1B-B49A-4B04-BDCD-FC2E4A2EC140}"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96834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C95F1B-B49A-4B04-BDCD-FC2E4A2EC140}"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51546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95F1B-B49A-4B04-BDCD-FC2E4A2EC140}"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664047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A4C95F1B-B49A-4B04-BDCD-FC2E4A2EC140}"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27622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A4C95F1B-B49A-4B04-BDCD-FC2E4A2EC140}"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96873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95F1B-B49A-4B04-BDCD-FC2E4A2EC140}"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1982481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95F1B-B49A-4B04-BDCD-FC2E4A2EC140}"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19D9B-5B4F-457B-9297-19802B302BB4}" type="slidenum">
              <a:rPr lang="en-US" smtClean="0"/>
              <a:t>‹#›</a:t>
            </a:fld>
            <a:endParaRPr lang="en-US"/>
          </a:p>
        </p:txBody>
      </p:sp>
    </p:spTree>
    <p:extLst>
      <p:ext uri="{BB962C8B-B14F-4D97-AF65-F5344CB8AC3E}">
        <p14:creationId xmlns:p14="http://schemas.microsoft.com/office/powerpoint/2010/main" val="3030534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A4C95F1B-B49A-4B04-BDCD-FC2E4A2EC140}" type="datetimeFigureOut">
              <a:rPr lang="en-US" smtClean="0"/>
              <a:t>9/11/26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C5D19D9B-5B4F-457B-9297-19802B302BB4}" type="slidenum">
              <a:rPr lang="en-US" smtClean="0"/>
              <a:t>‹#›</a:t>
            </a:fld>
            <a:endParaRPr lang="en-US"/>
          </a:p>
        </p:txBody>
      </p:sp>
    </p:spTree>
    <p:extLst>
      <p:ext uri="{BB962C8B-B14F-4D97-AF65-F5344CB8AC3E}">
        <p14:creationId xmlns:p14="http://schemas.microsoft.com/office/powerpoint/2010/main" val="2735862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0305-F0B5-9CCC-673E-B98AFED2B627}"/>
              </a:ext>
            </a:extLst>
          </p:cNvPr>
          <p:cNvSpPr>
            <a:spLocks noGrp="1"/>
          </p:cNvSpPr>
          <p:nvPr>
            <p:ph type="ctrTitle"/>
          </p:nvPr>
        </p:nvSpPr>
        <p:spPr>
          <a:xfrm>
            <a:off x="1265945" y="1686058"/>
            <a:ext cx="5240511" cy="1206037"/>
          </a:xfrm>
        </p:spPr>
        <p:txBody>
          <a:bodyPr/>
          <a:lstStyle/>
          <a:p>
            <a:r>
              <a:rPr lang="en-US" u="sng" dirty="0">
                <a:solidFill>
                  <a:srgbClr val="3F7296"/>
                </a:solidFill>
                <a:latin typeface="Aptos SemiBold" panose="020B0004020202020204" pitchFamily="34" charset="0"/>
                <a:cs typeface="Aharoni" panose="020F0502020204030204" pitchFamily="2" charset="-79"/>
              </a:rPr>
              <a:t>Raffle Item #1</a:t>
            </a:r>
          </a:p>
        </p:txBody>
      </p:sp>
      <p:sp>
        <p:nvSpPr>
          <p:cNvPr id="3" name="Subtitle 2">
            <a:extLst>
              <a:ext uri="{FF2B5EF4-FFF2-40B4-BE49-F238E27FC236}">
                <a16:creationId xmlns:a16="http://schemas.microsoft.com/office/drawing/2014/main" id="{E980EF59-660A-2B56-4249-DDB8ACD2689A}"/>
              </a:ext>
            </a:extLst>
          </p:cNvPr>
          <p:cNvSpPr>
            <a:spLocks noGrp="1"/>
          </p:cNvSpPr>
          <p:nvPr>
            <p:ph type="subTitle" idx="1"/>
          </p:nvPr>
        </p:nvSpPr>
        <p:spPr>
          <a:xfrm>
            <a:off x="1032543" y="7538112"/>
            <a:ext cx="5570924" cy="834230"/>
          </a:xfrm>
        </p:spPr>
        <p:txBody>
          <a:bodyPr/>
          <a:lstStyle/>
          <a:p>
            <a:r>
              <a:rPr lang="en-US" dirty="0">
                <a:latin typeface="Cascadia Mono" panose="020B0609020000020004" pitchFamily="49" charset="0"/>
                <a:ea typeface="Cascadia Mono" panose="020B0609020000020004" pitchFamily="49" charset="0"/>
                <a:cs typeface="Cascadia Mono" panose="020B0609020000020004" pitchFamily="49" charset="0"/>
              </a:rPr>
              <a:t>Generously Donated by</a:t>
            </a:r>
          </a:p>
          <a:p>
            <a:r>
              <a:rPr lang="en-US" dirty="0">
                <a:latin typeface="Cascadia Mono" panose="020B0609020000020004" pitchFamily="49" charset="0"/>
                <a:ea typeface="Cascadia Mono" panose="020B0609020000020004" pitchFamily="49" charset="0"/>
                <a:cs typeface="Cascadia Mono" panose="020B0609020000020004" pitchFamily="49" charset="0"/>
              </a:rPr>
              <a:t>The Family Family</a:t>
            </a:r>
          </a:p>
        </p:txBody>
      </p:sp>
      <p:sp>
        <p:nvSpPr>
          <p:cNvPr id="5" name="TextBox 4">
            <a:extLst>
              <a:ext uri="{FF2B5EF4-FFF2-40B4-BE49-F238E27FC236}">
                <a16:creationId xmlns:a16="http://schemas.microsoft.com/office/drawing/2014/main" id="{B5E07282-B980-208F-D7CC-11A10B5890D2}"/>
              </a:ext>
            </a:extLst>
          </p:cNvPr>
          <p:cNvSpPr txBox="1"/>
          <p:nvPr/>
        </p:nvSpPr>
        <p:spPr>
          <a:xfrm>
            <a:off x="1168934" y="2892095"/>
            <a:ext cx="5434533" cy="584775"/>
          </a:xfrm>
          <a:prstGeom prst="rect">
            <a:avLst/>
          </a:prstGeom>
          <a:noFill/>
        </p:spPr>
        <p:txBody>
          <a:bodyPr wrap="square" rtlCol="0">
            <a:spAutoFit/>
          </a:bodyPr>
          <a:lstStyle/>
          <a:p>
            <a:pPr algn="ctr"/>
            <a:r>
              <a:rPr lang="en-US" sz="3200">
                <a:solidFill>
                  <a:srgbClr val="5FAD1E"/>
                </a:solidFill>
                <a:latin typeface="Cascadia Mono" panose="020B0609020000020004" pitchFamily="49" charset="0"/>
                <a:ea typeface="Cascadia Mono" panose="020B0609020000020004" pitchFamily="49" charset="0"/>
                <a:cs typeface="Cascadia Mono" panose="020B0609020000020004" pitchFamily="49" charset="0"/>
              </a:rPr>
              <a:t>Message in a Bottle</a:t>
            </a:r>
            <a:endParaRPr lang="en-US" sz="3200" dirty="0">
              <a:solidFill>
                <a:srgbClr val="5FAD1E"/>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6" name="TextBox 5">
            <a:extLst>
              <a:ext uri="{FF2B5EF4-FFF2-40B4-BE49-F238E27FC236}">
                <a16:creationId xmlns:a16="http://schemas.microsoft.com/office/drawing/2014/main" id="{59A4AD82-28D4-0250-8074-11083F0EDBB1}"/>
              </a:ext>
            </a:extLst>
          </p:cNvPr>
          <p:cNvSpPr txBox="1"/>
          <p:nvPr/>
        </p:nvSpPr>
        <p:spPr>
          <a:xfrm>
            <a:off x="2015138" y="6091454"/>
            <a:ext cx="3742124" cy="707886"/>
          </a:xfrm>
          <a:prstGeom prst="rect">
            <a:avLst/>
          </a:prstGeom>
          <a:noFill/>
        </p:spPr>
        <p:txBody>
          <a:bodyPr wrap="square" rtlCol="0" anchor="ctr">
            <a:spAutoFit/>
          </a:bodyPr>
          <a:lstStyle/>
          <a:p>
            <a:pPr algn="ctr"/>
            <a:r>
              <a:rPr lang="en-US" sz="4000" dirty="0">
                <a:latin typeface="Aptos SemiBold" panose="020B0004020202020204" pitchFamily="34" charset="0"/>
                <a:ea typeface="Cascadia Code" panose="020B0609020000020004" pitchFamily="49" charset="0"/>
                <a:cs typeface="Cascadia Code" panose="020B0609020000020004" pitchFamily="49" charset="0"/>
              </a:rPr>
              <a:t>Valued at $700</a:t>
            </a:r>
          </a:p>
        </p:txBody>
      </p:sp>
      <p:sp>
        <p:nvSpPr>
          <p:cNvPr id="7" name="TextBox 6">
            <a:extLst>
              <a:ext uri="{FF2B5EF4-FFF2-40B4-BE49-F238E27FC236}">
                <a16:creationId xmlns:a16="http://schemas.microsoft.com/office/drawing/2014/main" id="{FA303DCD-F211-765B-1FD5-4DFAD5954B7F}"/>
              </a:ext>
            </a:extLst>
          </p:cNvPr>
          <p:cNvSpPr txBox="1"/>
          <p:nvPr/>
        </p:nvSpPr>
        <p:spPr>
          <a:xfrm>
            <a:off x="1100739" y="4118642"/>
            <a:ext cx="5570923" cy="1754326"/>
          </a:xfrm>
          <a:prstGeom prst="rect">
            <a:avLst/>
          </a:prstGeom>
          <a:noFill/>
        </p:spPr>
        <p:txBody>
          <a:bodyPr wrap="square" rtlCol="0">
            <a:spAutoFit/>
          </a:bodyPr>
          <a:lstStyle/>
          <a:p>
            <a:pPr algn="just"/>
            <a:r>
              <a:rPr lang="en-US" dirty="0"/>
              <a:t>This is a description of many different things that could possibly be in the raffle. To make more slides just right click on the slide to the left and choose “Duplicate Slide” and change as needed. This background is set for the whole presentation so you can start with a blank slide if you need to make something different.</a:t>
            </a:r>
          </a:p>
        </p:txBody>
      </p:sp>
    </p:spTree>
    <p:extLst>
      <p:ext uri="{BB962C8B-B14F-4D97-AF65-F5344CB8AC3E}">
        <p14:creationId xmlns:p14="http://schemas.microsoft.com/office/powerpoint/2010/main" val="392308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78E32F7-AF63-8E56-9ACB-7338D8C9E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D622B-5BB2-98C2-9A64-FCDF325EB864}"/>
              </a:ext>
            </a:extLst>
          </p:cNvPr>
          <p:cNvSpPr>
            <a:spLocks noGrp="1"/>
          </p:cNvSpPr>
          <p:nvPr>
            <p:ph type="ctrTitle"/>
          </p:nvPr>
        </p:nvSpPr>
        <p:spPr>
          <a:xfrm>
            <a:off x="1265945" y="1686058"/>
            <a:ext cx="5240511" cy="1206037"/>
          </a:xfrm>
        </p:spPr>
        <p:txBody>
          <a:bodyPr/>
          <a:lstStyle/>
          <a:p>
            <a:r>
              <a:rPr lang="en-US" u="sng" dirty="0">
                <a:solidFill>
                  <a:srgbClr val="3F7296"/>
                </a:solidFill>
                <a:latin typeface="Aptos SemiBold" panose="020B0004020202020204" pitchFamily="34" charset="0"/>
                <a:cs typeface="Aharoni" panose="020F0502020204030204" pitchFamily="2" charset="-79"/>
              </a:rPr>
              <a:t>Raffle </a:t>
            </a:r>
            <a:r>
              <a:rPr lang="en-US" u="sng">
                <a:solidFill>
                  <a:srgbClr val="3F7296"/>
                </a:solidFill>
                <a:latin typeface="Aptos SemiBold" panose="020B0004020202020204" pitchFamily="34" charset="0"/>
                <a:cs typeface="Aharoni" panose="020F0502020204030204" pitchFamily="2" charset="-79"/>
              </a:rPr>
              <a:t>Item #2</a:t>
            </a:r>
            <a:endParaRPr lang="en-US" u="sng" dirty="0">
              <a:solidFill>
                <a:srgbClr val="3F7296"/>
              </a:solidFill>
              <a:latin typeface="Aptos SemiBold" panose="020B0004020202020204" pitchFamily="34" charset="0"/>
              <a:cs typeface="Aharoni" panose="020F0502020204030204" pitchFamily="2" charset="-79"/>
            </a:endParaRPr>
          </a:p>
        </p:txBody>
      </p:sp>
      <p:sp>
        <p:nvSpPr>
          <p:cNvPr id="3" name="Subtitle 2">
            <a:extLst>
              <a:ext uri="{FF2B5EF4-FFF2-40B4-BE49-F238E27FC236}">
                <a16:creationId xmlns:a16="http://schemas.microsoft.com/office/drawing/2014/main" id="{BEB476D8-2CEE-09E6-FC26-31852B09B8D3}"/>
              </a:ext>
            </a:extLst>
          </p:cNvPr>
          <p:cNvSpPr>
            <a:spLocks noGrp="1"/>
          </p:cNvSpPr>
          <p:nvPr>
            <p:ph type="subTitle" idx="1"/>
          </p:nvPr>
        </p:nvSpPr>
        <p:spPr>
          <a:xfrm>
            <a:off x="1032543" y="7538112"/>
            <a:ext cx="5570924" cy="834230"/>
          </a:xfrm>
        </p:spPr>
        <p:txBody>
          <a:bodyPr/>
          <a:lstStyle/>
          <a:p>
            <a:r>
              <a:rPr lang="en-US" dirty="0">
                <a:latin typeface="Cascadia Mono" panose="020B0609020000020004" pitchFamily="49" charset="0"/>
                <a:ea typeface="Cascadia Mono" panose="020B0609020000020004" pitchFamily="49" charset="0"/>
                <a:cs typeface="Cascadia Mono" panose="020B0609020000020004" pitchFamily="49" charset="0"/>
              </a:rPr>
              <a:t>Generously Donated by</a:t>
            </a:r>
          </a:p>
          <a:p>
            <a:r>
              <a:rPr lang="en-US" dirty="0">
                <a:latin typeface="Cascadia Mono" panose="020B0609020000020004" pitchFamily="49" charset="0"/>
                <a:ea typeface="Cascadia Mono" panose="020B0609020000020004" pitchFamily="49" charset="0"/>
                <a:cs typeface="Cascadia Mono" panose="020B0609020000020004" pitchFamily="49" charset="0"/>
              </a:rPr>
              <a:t>The Family Family</a:t>
            </a:r>
          </a:p>
        </p:txBody>
      </p:sp>
      <p:sp>
        <p:nvSpPr>
          <p:cNvPr id="5" name="TextBox 4">
            <a:extLst>
              <a:ext uri="{FF2B5EF4-FFF2-40B4-BE49-F238E27FC236}">
                <a16:creationId xmlns:a16="http://schemas.microsoft.com/office/drawing/2014/main" id="{5C8B1823-7835-BEBD-E633-5FE059BB0785}"/>
              </a:ext>
            </a:extLst>
          </p:cNvPr>
          <p:cNvSpPr txBox="1"/>
          <p:nvPr/>
        </p:nvSpPr>
        <p:spPr>
          <a:xfrm>
            <a:off x="1168934" y="2892095"/>
            <a:ext cx="5434533" cy="584775"/>
          </a:xfrm>
          <a:prstGeom prst="rect">
            <a:avLst/>
          </a:prstGeom>
          <a:noFill/>
        </p:spPr>
        <p:txBody>
          <a:bodyPr wrap="square" rtlCol="0">
            <a:spAutoFit/>
          </a:bodyPr>
          <a:lstStyle/>
          <a:p>
            <a:pPr algn="ctr"/>
            <a:r>
              <a:rPr lang="en-US" sz="3200">
                <a:solidFill>
                  <a:srgbClr val="5FAD1E"/>
                </a:solidFill>
                <a:latin typeface="Cascadia Mono" panose="020B0609020000020004" pitchFamily="49" charset="0"/>
                <a:ea typeface="Cascadia Mono" panose="020B0609020000020004" pitchFamily="49" charset="0"/>
                <a:cs typeface="Cascadia Mono" panose="020B0609020000020004" pitchFamily="49" charset="0"/>
              </a:rPr>
              <a:t>Pirates Chest</a:t>
            </a:r>
            <a:endParaRPr lang="en-US" sz="3200" dirty="0">
              <a:solidFill>
                <a:srgbClr val="5FAD1E"/>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6" name="TextBox 5">
            <a:extLst>
              <a:ext uri="{FF2B5EF4-FFF2-40B4-BE49-F238E27FC236}">
                <a16:creationId xmlns:a16="http://schemas.microsoft.com/office/drawing/2014/main" id="{F2091C56-033F-EE1B-1240-02434A0CF74F}"/>
              </a:ext>
            </a:extLst>
          </p:cNvPr>
          <p:cNvSpPr txBox="1"/>
          <p:nvPr/>
        </p:nvSpPr>
        <p:spPr>
          <a:xfrm>
            <a:off x="2015138" y="6091454"/>
            <a:ext cx="3742124" cy="707886"/>
          </a:xfrm>
          <a:prstGeom prst="rect">
            <a:avLst/>
          </a:prstGeom>
          <a:noFill/>
        </p:spPr>
        <p:txBody>
          <a:bodyPr wrap="square" rtlCol="0" anchor="ctr">
            <a:spAutoFit/>
          </a:bodyPr>
          <a:lstStyle/>
          <a:p>
            <a:pPr algn="ctr"/>
            <a:r>
              <a:rPr lang="en-US" sz="4000" dirty="0">
                <a:latin typeface="Aptos SemiBold" panose="020B0004020202020204" pitchFamily="34" charset="0"/>
                <a:ea typeface="Cascadia Code" panose="020B0609020000020004" pitchFamily="49" charset="0"/>
                <a:cs typeface="Cascadia Code" panose="020B0609020000020004" pitchFamily="49" charset="0"/>
              </a:rPr>
              <a:t>Valued at $700</a:t>
            </a:r>
          </a:p>
        </p:txBody>
      </p:sp>
      <p:sp>
        <p:nvSpPr>
          <p:cNvPr id="7" name="TextBox 6">
            <a:extLst>
              <a:ext uri="{FF2B5EF4-FFF2-40B4-BE49-F238E27FC236}">
                <a16:creationId xmlns:a16="http://schemas.microsoft.com/office/drawing/2014/main" id="{57D428C3-B896-3CDA-65E0-460722F37BFB}"/>
              </a:ext>
            </a:extLst>
          </p:cNvPr>
          <p:cNvSpPr txBox="1"/>
          <p:nvPr/>
        </p:nvSpPr>
        <p:spPr>
          <a:xfrm>
            <a:off x="1100739" y="4118642"/>
            <a:ext cx="5570923" cy="1754326"/>
          </a:xfrm>
          <a:prstGeom prst="rect">
            <a:avLst/>
          </a:prstGeom>
          <a:noFill/>
        </p:spPr>
        <p:txBody>
          <a:bodyPr wrap="square" rtlCol="0">
            <a:spAutoFit/>
          </a:bodyPr>
          <a:lstStyle/>
          <a:p>
            <a:pPr algn="just"/>
            <a:r>
              <a:rPr lang="en-US" dirty="0"/>
              <a:t>This is a description of many different things that could possibly be in the raffle. To make more slides just right click on the slide to the left and choose “Duplicate Slide” and change as needed. This background is set for the whole presentation so you can start with a blank slide if you need to make something different.</a:t>
            </a:r>
          </a:p>
        </p:txBody>
      </p:sp>
    </p:spTree>
    <p:extLst>
      <p:ext uri="{BB962C8B-B14F-4D97-AF65-F5344CB8AC3E}">
        <p14:creationId xmlns:p14="http://schemas.microsoft.com/office/powerpoint/2010/main" val="751533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270A5C-66D1-A78A-D158-87843218B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43C10-3657-6581-2180-81254C06A6F5}"/>
              </a:ext>
            </a:extLst>
          </p:cNvPr>
          <p:cNvSpPr>
            <a:spLocks noGrp="1"/>
          </p:cNvSpPr>
          <p:nvPr>
            <p:ph type="ctrTitle"/>
          </p:nvPr>
        </p:nvSpPr>
        <p:spPr>
          <a:xfrm>
            <a:off x="1237128" y="2693969"/>
            <a:ext cx="5240511" cy="1206037"/>
          </a:xfrm>
        </p:spPr>
        <p:txBody>
          <a:bodyPr/>
          <a:lstStyle/>
          <a:p>
            <a:r>
              <a:rPr lang="en-US" u="sng" dirty="0"/>
              <a:t>Raffle Tickets</a:t>
            </a:r>
          </a:p>
        </p:txBody>
      </p:sp>
      <p:sp>
        <p:nvSpPr>
          <p:cNvPr id="5" name="TextBox 4">
            <a:extLst>
              <a:ext uri="{FF2B5EF4-FFF2-40B4-BE49-F238E27FC236}">
                <a16:creationId xmlns:a16="http://schemas.microsoft.com/office/drawing/2014/main" id="{58EE8C13-EC0D-AFC1-45BB-231FFF4C1E85}"/>
              </a:ext>
            </a:extLst>
          </p:cNvPr>
          <p:cNvSpPr txBox="1"/>
          <p:nvPr/>
        </p:nvSpPr>
        <p:spPr>
          <a:xfrm>
            <a:off x="1168933" y="4107305"/>
            <a:ext cx="5434533" cy="584775"/>
          </a:xfrm>
          <a:prstGeom prst="rect">
            <a:avLst/>
          </a:prstGeom>
          <a:noFill/>
        </p:spPr>
        <p:txBody>
          <a:bodyPr wrap="square" rtlCol="0">
            <a:spAutoFit/>
          </a:bodyPr>
          <a:lstStyle/>
          <a:p>
            <a:pPr algn="ctr"/>
            <a:r>
              <a:rPr lang="en-US" sz="3200" dirty="0">
                <a:latin typeface="Cascadia Mono" panose="020B0609020000020004" pitchFamily="49" charset="0"/>
                <a:ea typeface="Cascadia Mono" panose="020B0609020000020004" pitchFamily="49" charset="0"/>
                <a:cs typeface="Cascadia Mono" panose="020B0609020000020004" pitchFamily="49" charset="0"/>
              </a:rPr>
              <a:t>$5.00 per Ticket</a:t>
            </a:r>
          </a:p>
        </p:txBody>
      </p:sp>
      <p:sp>
        <p:nvSpPr>
          <p:cNvPr id="7" name="TextBox 6">
            <a:extLst>
              <a:ext uri="{FF2B5EF4-FFF2-40B4-BE49-F238E27FC236}">
                <a16:creationId xmlns:a16="http://schemas.microsoft.com/office/drawing/2014/main" id="{50DBBC7F-F27B-9555-0A10-296A52682C98}"/>
              </a:ext>
            </a:extLst>
          </p:cNvPr>
          <p:cNvSpPr txBox="1"/>
          <p:nvPr/>
        </p:nvSpPr>
        <p:spPr>
          <a:xfrm>
            <a:off x="1100737" y="4692080"/>
            <a:ext cx="5570924" cy="584775"/>
          </a:xfrm>
          <a:prstGeom prst="rect">
            <a:avLst/>
          </a:prstGeom>
          <a:noFill/>
        </p:spPr>
        <p:txBody>
          <a:bodyPr wrap="square" rtlCol="0">
            <a:spAutoFit/>
          </a:bodyPr>
          <a:lstStyle/>
          <a:p>
            <a:pPr algn="ctr"/>
            <a:r>
              <a:rPr lang="en-US" sz="3200" dirty="0"/>
              <a:t>or</a:t>
            </a:r>
          </a:p>
        </p:txBody>
      </p:sp>
      <p:sp>
        <p:nvSpPr>
          <p:cNvPr id="4" name="TextBox 3">
            <a:extLst>
              <a:ext uri="{FF2B5EF4-FFF2-40B4-BE49-F238E27FC236}">
                <a16:creationId xmlns:a16="http://schemas.microsoft.com/office/drawing/2014/main" id="{7DD44828-5690-6B3C-C75F-00D93F67B84D}"/>
              </a:ext>
            </a:extLst>
          </p:cNvPr>
          <p:cNvSpPr txBox="1"/>
          <p:nvPr/>
        </p:nvSpPr>
        <p:spPr>
          <a:xfrm>
            <a:off x="1168933" y="5276855"/>
            <a:ext cx="5434533" cy="584775"/>
          </a:xfrm>
          <a:prstGeom prst="rect">
            <a:avLst/>
          </a:prstGeom>
          <a:noFill/>
        </p:spPr>
        <p:txBody>
          <a:bodyPr wrap="square" rtlCol="0">
            <a:spAutoFit/>
          </a:bodyPr>
          <a:lstStyle/>
          <a:p>
            <a:pPr algn="ctr"/>
            <a:r>
              <a:rPr lang="en-US" sz="3200" dirty="0">
                <a:latin typeface="Cascadia Mono" panose="020B0609020000020004" pitchFamily="49" charset="0"/>
                <a:ea typeface="Cascadia Mono" panose="020B0609020000020004" pitchFamily="49" charset="0"/>
                <a:cs typeface="Cascadia Mono" panose="020B0609020000020004" pitchFamily="49" charset="0"/>
              </a:rPr>
              <a:t>$20.00 For 6 Tickets</a:t>
            </a:r>
          </a:p>
        </p:txBody>
      </p:sp>
    </p:spTree>
    <p:extLst>
      <p:ext uri="{BB962C8B-B14F-4D97-AF65-F5344CB8AC3E}">
        <p14:creationId xmlns:p14="http://schemas.microsoft.com/office/powerpoint/2010/main" val="3664590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13805-2AC8-E4BB-08FE-C5DD4CEF3BFC}"/>
              </a:ext>
            </a:extLst>
          </p:cNvPr>
          <p:cNvSpPr>
            <a:spLocks noGrp="1"/>
          </p:cNvSpPr>
          <p:nvPr>
            <p:ph idx="1"/>
          </p:nvPr>
        </p:nvSpPr>
        <p:spPr>
          <a:xfrm>
            <a:off x="1921790" y="2392817"/>
            <a:ext cx="4990454" cy="6224241"/>
          </a:xfrm>
        </p:spPr>
        <p:txBody>
          <a:bodyPr>
            <a:normAutofit fontScale="70000" lnSpcReduction="20000"/>
          </a:bodyPr>
          <a:lstStyle/>
          <a:p>
            <a:pPr marL="0" indent="0">
              <a:buNone/>
            </a:pPr>
            <a:r>
              <a:rPr lang="en-US" sz="2800" b="1" dirty="0"/>
              <a:t>3:00 PM</a:t>
            </a:r>
            <a:endParaRPr lang="en-US" sz="2800" dirty="0"/>
          </a:p>
          <a:p>
            <a:pPr marL="0" indent="0">
              <a:buNone/>
            </a:pPr>
            <a:r>
              <a:rPr lang="en-US" sz="2800" dirty="0"/>
              <a:t>Check-in Begins</a:t>
            </a:r>
            <a:br>
              <a:rPr lang="en-US" sz="2800" dirty="0"/>
            </a:br>
            <a:r>
              <a:rPr lang="en-US" sz="2800" dirty="0"/>
              <a:t>Purchase Raffle Tickets</a:t>
            </a:r>
            <a:br>
              <a:rPr lang="en-US" sz="2800" dirty="0"/>
            </a:br>
            <a:r>
              <a:rPr lang="en-US" sz="2800" dirty="0"/>
              <a:t>All Activities Open</a:t>
            </a:r>
            <a:br>
              <a:rPr lang="en-US" sz="2800" dirty="0"/>
            </a:br>
            <a:r>
              <a:rPr lang="en-US" sz="2800" dirty="0"/>
              <a:t>Dippin’ Dots Open</a:t>
            </a:r>
          </a:p>
          <a:p>
            <a:pPr marL="0" indent="0">
              <a:buNone/>
            </a:pPr>
            <a:r>
              <a:rPr lang="en-US" sz="2800" b="1" dirty="0"/>
              <a:t>4:30 PM</a:t>
            </a:r>
            <a:endParaRPr lang="en-US" sz="2800" dirty="0"/>
          </a:p>
          <a:p>
            <a:pPr marL="0" indent="0">
              <a:buNone/>
            </a:pPr>
            <a:r>
              <a:rPr lang="en-US" sz="2800" dirty="0"/>
              <a:t>Food lines open</a:t>
            </a:r>
          </a:p>
          <a:p>
            <a:pPr marL="0" indent="0">
              <a:buNone/>
            </a:pPr>
            <a:r>
              <a:rPr lang="en-US" sz="2800" b="1" dirty="0"/>
              <a:t>5:15 PM</a:t>
            </a:r>
            <a:endParaRPr lang="en-US" sz="2800" dirty="0"/>
          </a:p>
          <a:p>
            <a:pPr marL="0" indent="0">
              <a:buNone/>
            </a:pPr>
            <a:r>
              <a:rPr lang="en-US" sz="2800" dirty="0"/>
              <a:t>Announcements</a:t>
            </a:r>
            <a:br>
              <a:rPr lang="en-US" sz="2800" dirty="0"/>
            </a:br>
            <a:r>
              <a:rPr lang="en-US" sz="2800" dirty="0"/>
              <a:t>Acknowledgments</a:t>
            </a:r>
            <a:br>
              <a:rPr lang="en-US" sz="2800" dirty="0"/>
            </a:br>
            <a:r>
              <a:rPr lang="en-US" sz="2800" dirty="0"/>
              <a:t>Last call for Raffle</a:t>
            </a:r>
          </a:p>
          <a:p>
            <a:pPr marL="0" indent="0">
              <a:buNone/>
            </a:pPr>
            <a:r>
              <a:rPr lang="en-US" sz="2800" b="1" dirty="0"/>
              <a:t>5:25 PM</a:t>
            </a:r>
            <a:endParaRPr lang="en-US" sz="2800" dirty="0"/>
          </a:p>
          <a:p>
            <a:pPr marL="0" indent="0">
              <a:buNone/>
            </a:pPr>
            <a:r>
              <a:rPr lang="en-US" sz="2800" dirty="0"/>
              <a:t>Silent Auction Close</a:t>
            </a:r>
            <a:br>
              <a:rPr lang="en-US" sz="2800" dirty="0"/>
            </a:br>
            <a:r>
              <a:rPr lang="en-US" sz="2800" dirty="0"/>
              <a:t>Raffle Close</a:t>
            </a:r>
          </a:p>
          <a:p>
            <a:pPr marL="0" indent="0">
              <a:buNone/>
            </a:pPr>
            <a:r>
              <a:rPr lang="en-US" sz="2800" b="1" dirty="0"/>
              <a:t>5:30 PM</a:t>
            </a:r>
            <a:endParaRPr lang="en-US" sz="2800" dirty="0"/>
          </a:p>
          <a:p>
            <a:pPr marL="0" indent="0">
              <a:buNone/>
            </a:pPr>
            <a:r>
              <a:rPr lang="en-US" sz="2800" dirty="0"/>
              <a:t>Raffle Drawing</a:t>
            </a:r>
            <a:br>
              <a:rPr lang="en-US" sz="2800" dirty="0"/>
            </a:br>
            <a:r>
              <a:rPr lang="en-US" sz="2800" dirty="0"/>
              <a:t>Silent Auction winner</a:t>
            </a:r>
            <a:br>
              <a:rPr lang="en-US" sz="2800" dirty="0"/>
            </a:br>
            <a:r>
              <a:rPr lang="en-US" sz="2800" dirty="0"/>
              <a:t>Announcements</a:t>
            </a:r>
            <a:br>
              <a:rPr lang="en-US" sz="2800" dirty="0"/>
            </a:br>
            <a:r>
              <a:rPr lang="en-US" sz="2800" dirty="0"/>
              <a:t>Food lines close</a:t>
            </a:r>
          </a:p>
          <a:p>
            <a:pPr marL="0" indent="0">
              <a:buNone/>
            </a:pPr>
            <a:r>
              <a:rPr lang="en-US" sz="2800" b="1" dirty="0"/>
              <a:t>6:00 PM</a:t>
            </a:r>
            <a:endParaRPr lang="en-US" sz="2800" dirty="0"/>
          </a:p>
          <a:p>
            <a:pPr marL="0" indent="0">
              <a:buNone/>
            </a:pPr>
            <a:r>
              <a:rPr lang="en-US" sz="2800" dirty="0"/>
              <a:t>Event ends</a:t>
            </a:r>
          </a:p>
          <a:p>
            <a:endParaRPr lang="en-US" dirty="0"/>
          </a:p>
        </p:txBody>
      </p:sp>
      <p:sp>
        <p:nvSpPr>
          <p:cNvPr id="4" name="Title 1">
            <a:extLst>
              <a:ext uri="{FF2B5EF4-FFF2-40B4-BE49-F238E27FC236}">
                <a16:creationId xmlns:a16="http://schemas.microsoft.com/office/drawing/2014/main" id="{EA9C1027-0F48-45CD-865A-EDAD5EAC8A13}"/>
              </a:ext>
            </a:extLst>
          </p:cNvPr>
          <p:cNvSpPr txBox="1">
            <a:spLocks/>
          </p:cNvSpPr>
          <p:nvPr/>
        </p:nvSpPr>
        <p:spPr>
          <a:xfrm>
            <a:off x="1265944" y="1186780"/>
            <a:ext cx="5240511" cy="1206037"/>
          </a:xfrm>
          <a:prstGeom prst="rect">
            <a:avLst/>
          </a:prstGeom>
        </p:spPr>
        <p:txBody>
          <a:bodyPr vert="horz" lIns="91440" tIns="45720" rIns="91440" bIns="45720" rtlCol="0" anchor="ctr">
            <a:normAutofit/>
          </a:bodyPr>
          <a:lstStyle>
            <a:lvl1pPr algn="l" defTabSz="777240" rtl="0" eaLnBrk="1" latinLnBrk="0" hangingPunct="1">
              <a:lnSpc>
                <a:spcPct val="90000"/>
              </a:lnSpc>
              <a:spcBef>
                <a:spcPct val="0"/>
              </a:spcBef>
              <a:buNone/>
              <a:defRPr sz="3740" kern="1200">
                <a:solidFill>
                  <a:schemeClr val="tx1"/>
                </a:solidFill>
                <a:latin typeface="+mj-lt"/>
                <a:ea typeface="+mj-ea"/>
                <a:cs typeface="+mj-cs"/>
              </a:defRPr>
            </a:lvl1pPr>
          </a:lstStyle>
          <a:p>
            <a:pPr algn="ctr"/>
            <a:r>
              <a:rPr lang="en-US" sz="3200" u="sng">
                <a:solidFill>
                  <a:srgbClr val="3F7296"/>
                </a:solidFill>
              </a:rPr>
              <a:t>Schedule of </a:t>
            </a:r>
            <a:r>
              <a:rPr lang="en-US" sz="3200" u="sng" dirty="0">
                <a:solidFill>
                  <a:srgbClr val="3F7296"/>
                </a:solidFill>
              </a:rPr>
              <a:t>Events</a:t>
            </a:r>
          </a:p>
        </p:txBody>
      </p:sp>
    </p:spTree>
    <p:extLst>
      <p:ext uri="{BB962C8B-B14F-4D97-AF65-F5344CB8AC3E}">
        <p14:creationId xmlns:p14="http://schemas.microsoft.com/office/powerpoint/2010/main" val="9709320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98</TotalTime>
  <Words>235</Words>
  <Application>Microsoft Macintosh PowerPoint</Application>
  <PresentationFormat>Custom</PresentationFormat>
  <Paragraphs>29</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Aptos SemiBold</vt:lpstr>
      <vt:lpstr>Arial</vt:lpstr>
      <vt:lpstr>Cascadia Mono</vt:lpstr>
      <vt:lpstr>Office Theme</vt:lpstr>
      <vt:lpstr>Raffle Item #1</vt:lpstr>
      <vt:lpstr>Raffle Item #2</vt:lpstr>
      <vt:lpstr>Raffle Tickets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Anne Parmentier</dc:creator>
  <cp:lastModifiedBy>Anne Parmentier</cp:lastModifiedBy>
  <cp:revision>2</cp:revision>
  <dcterms:created xsi:type="dcterms:W3CDTF">2025-09-30T00:40:32Z</dcterms:created>
  <dcterms:modified xsi:type="dcterms:W3CDTF">2026-09-11T15:55:53Z</dcterms:modified>
</cp:coreProperties>
</file>